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4388-515F-D945-EA2C-708AE4E2E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56C3A-7115-F0F4-AFC4-6AE940120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AA9CC-E455-8B68-112E-5FD5805C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D0455-7B49-B3AC-95C6-01E50FEB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55E64-35D3-1759-48CE-FA781004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0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A140A-B4AB-D2E9-FF50-E549661E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BB2F6-4726-BF2B-EB53-5D1B04590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63C43-A881-098F-12CC-FAC7C2D4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C3326-C39A-DE4B-8583-7ABE10C0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2823A-AD7E-96ED-3713-FE2344E8F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5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3E82-C064-39AE-4982-EF11E6459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06CCA-6F78-CBC3-AA5B-D041C916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8410D-937E-038A-38F2-E6AC8002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0577-0EDA-1F66-2332-1EA0790C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40FEF-D235-978E-4A5D-E3F3D71C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2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9996-2008-4B82-E6E8-F5D5D4BF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AA155-A522-0CA2-0074-98F96D2E9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B0267-A335-F96B-6377-4E942B47A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2FA29-3E4C-55F3-64FB-E31F41D4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A354A-8EBF-5D82-19E0-659FB4CC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4AC44-51FB-9D79-E893-F3748BD8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11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549A-0F55-CEEC-0531-5C1C2847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473BD-61BC-6F0F-C3B8-D5F8C2A6E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8DB2F-5457-75E7-F872-E76C66191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073BA-0CB4-E4CE-7E59-9567F4171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E8364-0363-6303-5CC2-5E29968FB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7949CE-DFA0-CF1F-997F-F1991AED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3268A-814A-9BB4-0080-642D13650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2E615-0C5B-6D13-6323-20DD3E0E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4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A6C0-6345-967B-C0B5-9E5BE8E1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C5C02-B8ED-AF05-00F7-6F14D215C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EB9D7-1CF4-9DE1-14DF-DC69F99F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5C8F8-DE64-D6E6-6DD3-7FCFD27C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5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5950F-6AB9-961C-9826-B970BC86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F0CEA-5969-F429-083C-09C7878F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2C7FD-A4D4-FD9F-4C02-46F1C5C7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EEEE-9F52-2E75-E0D3-A493A0D8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F5B6A-2D14-35DE-43BF-D3285C48E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F2409-D190-2478-0530-F653E429D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74404-8266-7EB6-AF55-B363ECD2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1E07B-56C7-043F-9EF1-0A737A7E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E0C4C-4B8E-17DD-0D84-454A03CA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8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FEF83-A5BF-8094-88D7-46126E8E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65E25-E7A2-2CF8-BC3F-BB2652D7B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AD904-F2D1-4086-34CA-49A614FC7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4211C-02C6-FF0F-F939-A5F424074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72AD6-6998-FB97-0480-09481642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8490B-0C06-91B0-FE1D-D563FBE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4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5889-F577-44C7-0D90-316D3003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3868F-12C4-E791-3DDC-BC75E5F49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107AF-50C5-0BE8-9D58-DD84A360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6719A-0E0E-584D-7F84-F716406D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B1992-B5CF-F317-0615-5718582F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0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74EB8-F117-7DE6-BB4E-7252923B4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EB145-97A5-EBAF-DC94-223497EB2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29791-5661-DB5B-C32B-DF110464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68687-398D-D453-CB26-0B751890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12A2E-657E-F073-5624-F58A1DC8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4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C4CBF-B3E1-51FC-9973-0F78A62F0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C9EC8-FFAC-23B0-38A9-0B6096FE3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108EF-A32C-885E-133B-3F082C6FF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E054D-37BD-4EB0-82D6-BC0F33328E0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D5CE6-39F7-CC15-F241-218012AEF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2FAD3-2CAB-48A4-335A-26B052C88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9CFB6-4121-40E9-9B08-48BDCF31E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5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2A83D1-2E23-4833-FF9A-22E938376913}"/>
              </a:ext>
            </a:extLst>
          </p:cNvPr>
          <p:cNvSpPr/>
          <p:nvPr/>
        </p:nvSpPr>
        <p:spPr>
          <a:xfrm>
            <a:off x="-13447" y="14136"/>
            <a:ext cx="12189917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9D4F410-4173-5BCD-A27B-74F33285C76B}"/>
              </a:ext>
            </a:extLst>
          </p:cNvPr>
          <p:cNvGrpSpPr/>
          <p:nvPr/>
        </p:nvGrpSpPr>
        <p:grpSpPr>
          <a:xfrm>
            <a:off x="-540" y="777478"/>
            <a:ext cx="1755554" cy="6084506"/>
            <a:chOff x="-540" y="777478"/>
            <a:chExt cx="1755554" cy="608450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7B8CB0C-A7FD-62D6-E984-0EF6610CE55C}"/>
                </a:ext>
              </a:extLst>
            </p:cNvPr>
            <p:cNvGrpSpPr/>
            <p:nvPr/>
          </p:nvGrpSpPr>
          <p:grpSpPr>
            <a:xfrm>
              <a:off x="0" y="777478"/>
              <a:ext cx="1653284" cy="6084506"/>
              <a:chOff x="0" y="642568"/>
              <a:chExt cx="1653284" cy="6084506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1DEABD8-42C3-70A4-EB38-F5CFBB9BFE2C}"/>
                  </a:ext>
                </a:extLst>
              </p:cNvPr>
              <p:cNvSpPr/>
              <p:nvPr/>
            </p:nvSpPr>
            <p:spPr>
              <a:xfrm>
                <a:off x="0" y="642568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93EC94A-6579-C879-5933-A652537D961E}"/>
                  </a:ext>
                </a:extLst>
              </p:cNvPr>
              <p:cNvSpPr/>
              <p:nvPr/>
            </p:nvSpPr>
            <p:spPr>
              <a:xfrm>
                <a:off x="1841" y="1858895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A85EF17-FCE5-E18E-AF37-8CC065A91753}"/>
                  </a:ext>
                </a:extLst>
              </p:cNvPr>
              <p:cNvSpPr/>
              <p:nvPr/>
            </p:nvSpPr>
            <p:spPr>
              <a:xfrm>
                <a:off x="3682" y="3075222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6D3303-C771-2B8A-8BE6-02D0A5B4B49A}"/>
                  </a:ext>
                </a:extLst>
              </p:cNvPr>
              <p:cNvSpPr/>
              <p:nvPr/>
            </p:nvSpPr>
            <p:spPr>
              <a:xfrm>
                <a:off x="5523" y="4291548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02BF01D-59EC-DA05-6B56-647ABEC9606C}"/>
                  </a:ext>
                </a:extLst>
              </p:cNvPr>
              <p:cNvSpPr/>
              <p:nvPr/>
            </p:nvSpPr>
            <p:spPr>
              <a:xfrm>
                <a:off x="7364" y="5507874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8CFBCB-DAB3-B7DB-F01E-7DFDD59B519E}"/>
                </a:ext>
              </a:extLst>
            </p:cNvPr>
            <p:cNvSpPr txBox="1"/>
            <p:nvPr/>
          </p:nvSpPr>
          <p:spPr>
            <a:xfrm>
              <a:off x="9443" y="1261491"/>
              <a:ext cx="16668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of users intend to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SWITCH BRAND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(yes/undecided)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99B22D9-E30E-FF5B-6D85-8D9ABF39CB41}"/>
                </a:ext>
              </a:extLst>
            </p:cNvPr>
            <p:cNvSpPr txBox="1"/>
            <p:nvPr/>
          </p:nvSpPr>
          <p:spPr>
            <a:xfrm>
              <a:off x="29979" y="4903804"/>
              <a:ext cx="164592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of users plan to spend </a:t>
              </a:r>
              <a:r>
                <a:rPr lang="en-US" sz="1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₦501k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on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NEXT PURCHASE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08DA780-B152-A241-E3F3-01C733C51022}"/>
                </a:ext>
              </a:extLst>
            </p:cNvPr>
            <p:cNvSpPr txBox="1"/>
            <p:nvPr/>
          </p:nvSpPr>
          <p:spPr>
            <a:xfrm>
              <a:off x="18418" y="3229725"/>
              <a:ext cx="164592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The product priority Index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(DURABILITY)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is</a:t>
              </a:r>
              <a:endParaRPr lang="en-US" sz="14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9DB3240-4BE6-B207-44DB-BAF3FD5D7959}"/>
                </a:ext>
              </a:extLst>
            </p:cNvPr>
            <p:cNvSpPr txBox="1"/>
            <p:nvPr/>
          </p:nvSpPr>
          <p:spPr>
            <a:xfrm>
              <a:off x="4588" y="2002520"/>
              <a:ext cx="17354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Users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AVG. SATISFACTION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on current phone is</a:t>
              </a:r>
              <a:endParaRPr lang="en-US" sz="14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8ABB245-A8DF-41CE-FE49-E165CACDA28E}"/>
                </a:ext>
              </a:extLst>
            </p:cNvPr>
            <p:cNvSpPr txBox="1"/>
            <p:nvPr/>
          </p:nvSpPr>
          <p:spPr>
            <a:xfrm>
              <a:off x="-540" y="6336878"/>
              <a:ext cx="1755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of users bought via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LOCAL RETAILERS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E3F9D99-A29B-0019-D68A-C7BB67E0D72B}"/>
              </a:ext>
            </a:extLst>
          </p:cNvPr>
          <p:cNvGrpSpPr/>
          <p:nvPr/>
        </p:nvGrpSpPr>
        <p:grpSpPr>
          <a:xfrm>
            <a:off x="1665070" y="4044416"/>
            <a:ext cx="10499488" cy="2744978"/>
            <a:chOff x="1665070" y="4044416"/>
            <a:chExt cx="10499488" cy="274497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B8FE43B-A949-59E7-67F5-185F59856C6D}"/>
                </a:ext>
              </a:extLst>
            </p:cNvPr>
            <p:cNvGrpSpPr/>
            <p:nvPr/>
          </p:nvGrpSpPr>
          <p:grpSpPr>
            <a:xfrm>
              <a:off x="1665070" y="4044416"/>
              <a:ext cx="5470249" cy="2730957"/>
              <a:chOff x="1773315" y="4837808"/>
              <a:chExt cx="4068295" cy="19812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86790F7-9B80-7B99-E7FF-8A3E60FB8808}"/>
                  </a:ext>
                </a:extLst>
              </p:cNvPr>
              <p:cNvSpPr/>
              <p:nvPr/>
            </p:nvSpPr>
            <p:spPr>
              <a:xfrm>
                <a:off x="1817907" y="4837808"/>
                <a:ext cx="3849089" cy="1981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AFA8E7C-00AC-4090-FB47-4FEF7BE85CD8}"/>
                  </a:ext>
                </a:extLst>
              </p:cNvPr>
              <p:cNvSpPr txBox="1"/>
              <p:nvPr/>
            </p:nvSpPr>
            <p:spPr>
              <a:xfrm>
                <a:off x="1773315" y="4854943"/>
                <a:ext cx="4068295" cy="53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ROI ON ADVANCE FEATURES</a:t>
                </a:r>
              </a:p>
              <a:p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This is how users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PRIMARY USE </a:t>
                </a:r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of phone relates to their demand for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ADVANCE FEATURES</a:t>
                </a:r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  <a:r>
                  <a:rPr lang="en-US" sz="1400" b="1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TARGET CONTENT CREATORS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55F236E-5AFA-B692-8EBB-D367349A485F}"/>
                </a:ext>
              </a:extLst>
            </p:cNvPr>
            <p:cNvGrpSpPr/>
            <p:nvPr/>
          </p:nvGrpSpPr>
          <p:grpSpPr>
            <a:xfrm>
              <a:off x="6952478" y="4046194"/>
              <a:ext cx="5212080" cy="2743200"/>
              <a:chOff x="4976095" y="2791809"/>
              <a:chExt cx="3615862" cy="198120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1BC78D6-44AD-9F0B-7E28-AA23D0175250}"/>
                  </a:ext>
                </a:extLst>
              </p:cNvPr>
              <p:cNvSpPr/>
              <p:nvPr/>
            </p:nvSpPr>
            <p:spPr>
              <a:xfrm>
                <a:off x="4976095" y="2791810"/>
                <a:ext cx="3590488" cy="1981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763A60-5CD9-8C75-1F7E-C10E433C0AFE}"/>
                  </a:ext>
                </a:extLst>
              </p:cNvPr>
              <p:cNvSpPr txBox="1"/>
              <p:nvPr/>
            </p:nvSpPr>
            <p:spPr>
              <a:xfrm>
                <a:off x="5002786" y="2791809"/>
                <a:ext cx="3589171" cy="533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CHURN DRIVERS</a:t>
                </a:r>
              </a:p>
              <a:p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These are the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FACTORS</a:t>
                </a:r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that engineered user’s decision to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SWITCH BRAND.</a:t>
                </a:r>
                <a:endPara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C2AE7B7-9C68-5995-80AE-45006F8415E4}"/>
              </a:ext>
            </a:extLst>
          </p:cNvPr>
          <p:cNvGrpSpPr/>
          <p:nvPr/>
        </p:nvGrpSpPr>
        <p:grpSpPr>
          <a:xfrm>
            <a:off x="1710043" y="1181444"/>
            <a:ext cx="10463167" cy="2767018"/>
            <a:chOff x="1725033" y="1181444"/>
            <a:chExt cx="10463167" cy="27670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7751DCD-01EA-F902-39A4-E16C76D6321C}"/>
                </a:ext>
              </a:extLst>
            </p:cNvPr>
            <p:cNvGrpSpPr/>
            <p:nvPr/>
          </p:nvGrpSpPr>
          <p:grpSpPr>
            <a:xfrm>
              <a:off x="6976120" y="1205262"/>
              <a:ext cx="5212080" cy="2743200"/>
              <a:chOff x="1369291" y="2791810"/>
              <a:chExt cx="3589171" cy="19812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8998BEE-ACC0-B4D5-DB2D-1C0504C69804}"/>
                  </a:ext>
                </a:extLst>
              </p:cNvPr>
              <p:cNvSpPr/>
              <p:nvPr/>
            </p:nvSpPr>
            <p:spPr>
              <a:xfrm>
                <a:off x="1369702" y="2791810"/>
                <a:ext cx="3563571" cy="1981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421C3FE-C701-C642-98C7-3585D1043A26}"/>
                  </a:ext>
                </a:extLst>
              </p:cNvPr>
              <p:cNvSpPr txBox="1"/>
              <p:nvPr/>
            </p:nvSpPr>
            <p:spPr>
              <a:xfrm>
                <a:off x="1369291" y="2793044"/>
                <a:ext cx="3589171" cy="533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PRODUCT VALUE HIERARCHY</a:t>
                </a:r>
              </a:p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This is how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users care </a:t>
                </a:r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about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PHONE FEATURES. </a:t>
                </a:r>
              </a:p>
              <a:p>
                <a:pPr algn="ctr"/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(</a:t>
                </a:r>
                <a:r>
                  <a:rPr lang="en-US" sz="1400" b="1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DURABILITY OVER PRICE)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8AB0DF8-0CD8-D3AB-F65B-44E71EACDD1C}"/>
                </a:ext>
              </a:extLst>
            </p:cNvPr>
            <p:cNvGrpSpPr/>
            <p:nvPr/>
          </p:nvGrpSpPr>
          <p:grpSpPr>
            <a:xfrm>
              <a:off x="1725033" y="1181444"/>
              <a:ext cx="5212080" cy="2743200"/>
              <a:chOff x="4860168" y="697795"/>
              <a:chExt cx="3645729" cy="199910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6480F85-66A7-9345-B02D-7D5A411BE95B}"/>
                  </a:ext>
                </a:extLst>
              </p:cNvPr>
              <p:cNvSpPr/>
              <p:nvPr/>
            </p:nvSpPr>
            <p:spPr>
              <a:xfrm>
                <a:off x="4871749" y="715701"/>
                <a:ext cx="3619725" cy="1981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D20C4F5-7B2C-2A31-0FA5-6FB1D8F2167E}"/>
                  </a:ext>
                </a:extLst>
              </p:cNvPr>
              <p:cNvSpPr txBox="1"/>
              <p:nvPr/>
            </p:nvSpPr>
            <p:spPr>
              <a:xfrm>
                <a:off x="4860168" y="697795"/>
                <a:ext cx="3645729" cy="381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RETENTION RISK QUADRANTS</a:t>
                </a:r>
              </a:p>
              <a:p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This is how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USER’S SATISFACTIONS </a:t>
                </a:r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affect their </a:t>
                </a:r>
                <a:r>
                  <a:rPr lang="en-US" sz="1400" dirty="0">
                    <a:solidFill>
                      <a:srgbClr val="00B0F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SWITCH INTENT.</a:t>
                </a:r>
                <a:endPara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54B3979-CCC2-1521-50A7-18A115EA0880}"/>
              </a:ext>
            </a:extLst>
          </p:cNvPr>
          <p:cNvGrpSpPr/>
          <p:nvPr/>
        </p:nvGrpSpPr>
        <p:grpSpPr>
          <a:xfrm>
            <a:off x="-13447" y="4143"/>
            <a:ext cx="12192000" cy="624172"/>
            <a:chOff x="-13447" y="4143"/>
            <a:chExt cx="12192000" cy="62417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1EA4642-FF04-C793-F663-D048090D0655}"/>
                </a:ext>
              </a:extLst>
            </p:cNvPr>
            <p:cNvCxnSpPr/>
            <p:nvPr/>
          </p:nvCxnSpPr>
          <p:spPr>
            <a:xfrm>
              <a:off x="-13447" y="64103"/>
              <a:ext cx="1218991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A7ABB9-8A94-02D9-4B2E-7506A1058F77}"/>
                </a:ext>
              </a:extLst>
            </p:cNvPr>
            <p:cNvCxnSpPr/>
            <p:nvPr/>
          </p:nvCxnSpPr>
          <p:spPr>
            <a:xfrm>
              <a:off x="-11364" y="628315"/>
              <a:ext cx="1218991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72C434-C089-B800-19DE-12729E22AD80}"/>
                </a:ext>
              </a:extLst>
            </p:cNvPr>
            <p:cNvSpPr txBox="1"/>
            <p:nvPr/>
          </p:nvSpPr>
          <p:spPr>
            <a:xfrm>
              <a:off x="44840" y="4143"/>
              <a:ext cx="9528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NIGERIAN PHONE PURCHASE PREFERENCE DASHBOARD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8C2FBC-CC81-A284-2AB2-3E95A2D3AE3A}"/>
                </a:ext>
              </a:extLst>
            </p:cNvPr>
            <p:cNvSpPr txBox="1"/>
            <p:nvPr/>
          </p:nvSpPr>
          <p:spPr>
            <a:xfrm>
              <a:off x="44841" y="320538"/>
              <a:ext cx="118651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IDENTIFYING CORE PURCHASE DRIVERS AND RETENTION RISKS  </a:t>
              </a:r>
              <a:r>
                <a:rPr lang="en-US" sz="1400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October 2025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D28D12-3DAC-3B2B-A793-1011FE82B157}"/>
              </a:ext>
            </a:extLst>
          </p:cNvPr>
          <p:cNvCxnSpPr>
            <a:cxnSpLocks/>
          </p:cNvCxnSpPr>
          <p:nvPr/>
        </p:nvCxnSpPr>
        <p:spPr>
          <a:xfrm>
            <a:off x="1658250" y="628315"/>
            <a:ext cx="0" cy="62438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3415E3B-1AD0-754D-7BDD-DEB3AB92B059}"/>
              </a:ext>
            </a:extLst>
          </p:cNvPr>
          <p:cNvCxnSpPr>
            <a:cxnSpLocks/>
          </p:cNvCxnSpPr>
          <p:nvPr/>
        </p:nvCxnSpPr>
        <p:spPr>
          <a:xfrm>
            <a:off x="6922123" y="1217744"/>
            <a:ext cx="0" cy="5669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17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A601F-F876-B7D8-6E77-377F2DA2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5D3229-0568-E8DF-AE44-1999D206F8AF}"/>
              </a:ext>
            </a:extLst>
          </p:cNvPr>
          <p:cNvSpPr/>
          <p:nvPr/>
        </p:nvSpPr>
        <p:spPr>
          <a:xfrm>
            <a:off x="-13447" y="14136"/>
            <a:ext cx="12189917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B97DFA9-9A04-8561-A7DB-C8FC06212AD5}"/>
              </a:ext>
            </a:extLst>
          </p:cNvPr>
          <p:cNvGrpSpPr/>
          <p:nvPr/>
        </p:nvGrpSpPr>
        <p:grpSpPr>
          <a:xfrm>
            <a:off x="-540" y="777478"/>
            <a:ext cx="1755554" cy="6084506"/>
            <a:chOff x="-540" y="777478"/>
            <a:chExt cx="1755554" cy="608450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A57B674-CDBE-28B3-C36D-E6D6A4AA9B0B}"/>
                </a:ext>
              </a:extLst>
            </p:cNvPr>
            <p:cNvGrpSpPr/>
            <p:nvPr/>
          </p:nvGrpSpPr>
          <p:grpSpPr>
            <a:xfrm>
              <a:off x="0" y="777478"/>
              <a:ext cx="1653284" cy="6084506"/>
              <a:chOff x="0" y="642568"/>
              <a:chExt cx="1653284" cy="6084506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558A6D-E134-B78D-EEC5-C8878F99E80E}"/>
                  </a:ext>
                </a:extLst>
              </p:cNvPr>
              <p:cNvSpPr/>
              <p:nvPr/>
            </p:nvSpPr>
            <p:spPr>
              <a:xfrm>
                <a:off x="0" y="642568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8FA981B-9D0B-8CEC-8CC6-ABD11613EC00}"/>
                  </a:ext>
                </a:extLst>
              </p:cNvPr>
              <p:cNvSpPr/>
              <p:nvPr/>
            </p:nvSpPr>
            <p:spPr>
              <a:xfrm>
                <a:off x="1841" y="1858895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E7D20F4-9202-04BA-8C77-1FAA56FD0D50}"/>
                  </a:ext>
                </a:extLst>
              </p:cNvPr>
              <p:cNvSpPr/>
              <p:nvPr/>
            </p:nvSpPr>
            <p:spPr>
              <a:xfrm>
                <a:off x="3682" y="3075222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F0EA75-1B84-9E65-22C0-0A239A88C0C6}"/>
                  </a:ext>
                </a:extLst>
              </p:cNvPr>
              <p:cNvSpPr/>
              <p:nvPr/>
            </p:nvSpPr>
            <p:spPr>
              <a:xfrm>
                <a:off x="5523" y="4291548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8FCC537-2504-D1D8-DD04-C13D3BF3C5B2}"/>
                  </a:ext>
                </a:extLst>
              </p:cNvPr>
              <p:cNvSpPr/>
              <p:nvPr/>
            </p:nvSpPr>
            <p:spPr>
              <a:xfrm>
                <a:off x="7364" y="5507874"/>
                <a:ext cx="1645920" cy="1219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BD890C-D966-9472-BF0B-218BFF91EB67}"/>
                </a:ext>
              </a:extLst>
            </p:cNvPr>
            <p:cNvSpPr txBox="1"/>
            <p:nvPr/>
          </p:nvSpPr>
          <p:spPr>
            <a:xfrm>
              <a:off x="9443" y="1261491"/>
              <a:ext cx="16668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of users intend to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SWITCH BRAND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(yes/undecided)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6068521-0722-48A4-617D-656F8F6C8E86}"/>
                </a:ext>
              </a:extLst>
            </p:cNvPr>
            <p:cNvSpPr txBox="1"/>
            <p:nvPr/>
          </p:nvSpPr>
          <p:spPr>
            <a:xfrm>
              <a:off x="29979" y="4903804"/>
              <a:ext cx="164592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of users plan to spend </a:t>
              </a:r>
              <a:r>
                <a:rPr lang="en-US" sz="1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₦501k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on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NEXT PURCHASE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2FDCA4-593A-342E-B39B-5C40B3BBB38D}"/>
                </a:ext>
              </a:extLst>
            </p:cNvPr>
            <p:cNvSpPr txBox="1"/>
            <p:nvPr/>
          </p:nvSpPr>
          <p:spPr>
            <a:xfrm>
              <a:off x="18418" y="3229725"/>
              <a:ext cx="164592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The product priority Index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(DURABILITY)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is</a:t>
              </a:r>
              <a:endParaRPr lang="en-US" sz="14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68F3F4-2DB7-78AF-CBA5-AF9E7BE4F0DB}"/>
                </a:ext>
              </a:extLst>
            </p:cNvPr>
            <p:cNvSpPr txBox="1"/>
            <p:nvPr/>
          </p:nvSpPr>
          <p:spPr>
            <a:xfrm>
              <a:off x="4588" y="2002520"/>
              <a:ext cx="17354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Users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AVG. SATISFACTION 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on current phone is</a:t>
              </a:r>
              <a:endParaRPr lang="en-US" sz="14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F5B2CC2-4709-383D-3F41-6F7E1CEAC352}"/>
                </a:ext>
              </a:extLst>
            </p:cNvPr>
            <p:cNvSpPr txBox="1"/>
            <p:nvPr/>
          </p:nvSpPr>
          <p:spPr>
            <a:xfrm>
              <a:off x="-540" y="6336878"/>
              <a:ext cx="1755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of users bought via </a:t>
              </a:r>
              <a:r>
                <a:rPr lang="en-US" sz="1400" b="1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LOCAL RETAILERS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EAF3C61-3C09-93AC-45D9-F8F006AF875F}"/>
              </a:ext>
            </a:extLst>
          </p:cNvPr>
          <p:cNvGrpSpPr/>
          <p:nvPr/>
        </p:nvGrpSpPr>
        <p:grpSpPr>
          <a:xfrm>
            <a:off x="1725029" y="4044416"/>
            <a:ext cx="10402954" cy="2744978"/>
            <a:chOff x="1725029" y="4044416"/>
            <a:chExt cx="10402954" cy="274497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CB2A52-201A-A138-033F-2F2FE9431C03}"/>
                </a:ext>
              </a:extLst>
            </p:cNvPr>
            <p:cNvSpPr/>
            <p:nvPr/>
          </p:nvSpPr>
          <p:spPr>
            <a:xfrm>
              <a:off x="1725029" y="4044416"/>
              <a:ext cx="5175504" cy="27309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0248E52-FFE5-61AE-C13C-1B4C35153942}"/>
                </a:ext>
              </a:extLst>
            </p:cNvPr>
            <p:cNvSpPr/>
            <p:nvPr/>
          </p:nvSpPr>
          <p:spPr>
            <a:xfrm>
              <a:off x="6952478" y="4046195"/>
              <a:ext cx="5175505" cy="27431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2E7185-313D-670E-1D50-AE3F97B1A81A}"/>
              </a:ext>
            </a:extLst>
          </p:cNvPr>
          <p:cNvGrpSpPr/>
          <p:nvPr/>
        </p:nvGrpSpPr>
        <p:grpSpPr>
          <a:xfrm>
            <a:off x="1726600" y="1205262"/>
            <a:ext cx="10410031" cy="2743200"/>
            <a:chOff x="1741590" y="1205262"/>
            <a:chExt cx="10410031" cy="2743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5F10DC-CFC5-0DC1-1CFC-7E5ED9238435}"/>
                </a:ext>
              </a:extLst>
            </p:cNvPr>
            <p:cNvSpPr/>
            <p:nvPr/>
          </p:nvSpPr>
          <p:spPr>
            <a:xfrm>
              <a:off x="6976717" y="1205262"/>
              <a:ext cx="5174904" cy="2743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8F10F4-20B7-58FD-8B19-72A17A01A9AC}"/>
                </a:ext>
              </a:extLst>
            </p:cNvPr>
            <p:cNvSpPr/>
            <p:nvPr/>
          </p:nvSpPr>
          <p:spPr>
            <a:xfrm>
              <a:off x="1741590" y="1206015"/>
              <a:ext cx="5174904" cy="27186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1850230-F245-9B59-3A51-1DF573350F7E}"/>
              </a:ext>
            </a:extLst>
          </p:cNvPr>
          <p:cNvGrpSpPr/>
          <p:nvPr/>
        </p:nvGrpSpPr>
        <p:grpSpPr>
          <a:xfrm>
            <a:off x="-13447" y="4143"/>
            <a:ext cx="12192000" cy="624172"/>
            <a:chOff x="-13447" y="4143"/>
            <a:chExt cx="12192000" cy="62417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E2F5DF9-E31B-7FF2-CC54-94871821EEC9}"/>
                </a:ext>
              </a:extLst>
            </p:cNvPr>
            <p:cNvCxnSpPr/>
            <p:nvPr/>
          </p:nvCxnSpPr>
          <p:spPr>
            <a:xfrm>
              <a:off x="-13447" y="64103"/>
              <a:ext cx="1218991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2EFC15-327F-BB15-8B4C-CA6292E5895D}"/>
                </a:ext>
              </a:extLst>
            </p:cNvPr>
            <p:cNvCxnSpPr/>
            <p:nvPr/>
          </p:nvCxnSpPr>
          <p:spPr>
            <a:xfrm>
              <a:off x="-11364" y="628315"/>
              <a:ext cx="1218991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342B08-DFF9-A0D3-C251-04D375ADA5C7}"/>
                </a:ext>
              </a:extLst>
            </p:cNvPr>
            <p:cNvSpPr txBox="1"/>
            <p:nvPr/>
          </p:nvSpPr>
          <p:spPr>
            <a:xfrm>
              <a:off x="44840" y="4143"/>
              <a:ext cx="9528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NIGERIAN PHONE PURCHASE PREFERENCE DASHBOARD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F47501-9CF6-E41C-072C-5E48932C4EE9}"/>
                </a:ext>
              </a:extLst>
            </p:cNvPr>
            <p:cNvSpPr txBox="1"/>
            <p:nvPr/>
          </p:nvSpPr>
          <p:spPr>
            <a:xfrm>
              <a:off x="44841" y="320538"/>
              <a:ext cx="118651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IDENTIFYING CORE PURCHASE DRIVERS AND RETENTION RISKS  </a:t>
              </a:r>
              <a:r>
                <a:rPr lang="en-US" sz="1400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October 2025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486EA2-2210-BC26-B72E-A5AFD8AB501A}"/>
              </a:ext>
            </a:extLst>
          </p:cNvPr>
          <p:cNvCxnSpPr>
            <a:cxnSpLocks/>
          </p:cNvCxnSpPr>
          <p:nvPr/>
        </p:nvCxnSpPr>
        <p:spPr>
          <a:xfrm>
            <a:off x="1658250" y="628315"/>
            <a:ext cx="0" cy="62438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B79880C-C3B0-BE5F-6CE6-802038E74537}"/>
              </a:ext>
            </a:extLst>
          </p:cNvPr>
          <p:cNvCxnSpPr>
            <a:cxnSpLocks/>
          </p:cNvCxnSpPr>
          <p:nvPr/>
        </p:nvCxnSpPr>
        <p:spPr>
          <a:xfrm>
            <a:off x="6922123" y="1217744"/>
            <a:ext cx="0" cy="5669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04D8485-3B96-E086-5FBE-C8C5C5E9DAF6}"/>
              </a:ext>
            </a:extLst>
          </p:cNvPr>
          <p:cNvSpPr txBox="1"/>
          <p:nvPr/>
        </p:nvSpPr>
        <p:spPr>
          <a:xfrm>
            <a:off x="1668853" y="1214529"/>
            <a:ext cx="530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OVERALL BUDGET DISTRIBUTION</a:t>
            </a:r>
          </a:p>
          <a:p>
            <a:pPr algn="ctr"/>
            <a:r>
              <a:rPr lang="en-US" sz="14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MID-RANGE DOMINANCE: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Core Market Sweet Spot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6C7905-42E7-5504-B4A0-3F8A65479D3C}"/>
              </a:ext>
            </a:extLst>
          </p:cNvPr>
          <p:cNvSpPr txBox="1"/>
          <p:nvPr/>
        </p:nvSpPr>
        <p:spPr>
          <a:xfrm>
            <a:off x="6915591" y="1207958"/>
            <a:ext cx="5269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TACTICAL CHURN DIAGNOTIC</a:t>
            </a:r>
          </a:p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Identifying </a:t>
            </a:r>
            <a:r>
              <a:rPr lang="en-US" sz="14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BRAND SPECIFIC WEAKNESS.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3F1D2C-C12A-3AEB-6D1E-B7DBC7FA9B7C}"/>
              </a:ext>
            </a:extLst>
          </p:cNvPr>
          <p:cNvSpPr txBox="1"/>
          <p:nvPr/>
        </p:nvSpPr>
        <p:spPr>
          <a:xfrm>
            <a:off x="1644905" y="4060330"/>
            <a:ext cx="529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HIGHEST PREMIUM INTENT</a:t>
            </a:r>
          </a:p>
          <a:p>
            <a:pPr algn="ctr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This is the </a:t>
            </a:r>
            <a:r>
              <a:rPr lang="en-US" sz="14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BUDGET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breakdown by </a:t>
            </a:r>
            <a:r>
              <a:rPr lang="en-US" sz="14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 CATEGORY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D9C9D0-A335-5C75-7FB7-E081A97D5469}"/>
              </a:ext>
            </a:extLst>
          </p:cNvPr>
          <p:cNvSpPr txBox="1"/>
          <p:nvPr/>
        </p:nvSpPr>
        <p:spPr>
          <a:xfrm>
            <a:off x="6903126" y="4045210"/>
            <a:ext cx="5301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SALES CHANNEL IMPACT</a:t>
            </a:r>
          </a:p>
          <a:p>
            <a:pPr algn="ctr"/>
            <a:r>
              <a:rPr lang="en-US" sz="14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 RATAILERS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: The Undisputed Sales Channel</a:t>
            </a:r>
            <a:endParaRPr lang="en-US" sz="1400" b="1" dirty="0">
              <a:solidFill>
                <a:srgbClr val="00B0F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60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221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Black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Alliyu Ajagun</dc:creator>
  <cp:lastModifiedBy>Alliyu Ajagun</cp:lastModifiedBy>
  <cp:revision>5</cp:revision>
  <dcterms:created xsi:type="dcterms:W3CDTF">2025-10-13T13:38:26Z</dcterms:created>
  <dcterms:modified xsi:type="dcterms:W3CDTF">2025-10-14T18:55:54Z</dcterms:modified>
</cp:coreProperties>
</file>